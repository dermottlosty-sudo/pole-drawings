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60" d="100"/>
          <a:sy n="160" d="100"/>
        </p:scale>
        <p:origin x="-72" y="20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96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15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03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23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24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56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34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613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87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433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01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6CC7A-05A7-4DF8-A36D-9A4E039B77BF}" type="datetimeFigureOut">
              <a:rPr lang="en-GB" smtClean="0"/>
              <a:t>05/12/2014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F44D1-4903-4402-9D1E-F3722CA42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39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4" y="57057"/>
            <a:ext cx="4383782" cy="674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19872" y="693102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SCARFING TO BE CUT TO GIVE</a:t>
            </a:r>
          </a:p>
          <a:p>
            <a:r>
              <a:rPr lang="en-GB" sz="600" dirty="0" smtClean="0"/>
              <a:t>A 50mm FACE ON BOTH FACES</a:t>
            </a:r>
          </a:p>
          <a:p>
            <a:r>
              <a:rPr lang="en-GB" sz="600" dirty="0" smtClean="0"/>
              <a:t>OF POLE AND THE END</a:t>
            </a:r>
          </a:p>
          <a:p>
            <a:r>
              <a:rPr lang="en-GB" sz="600" dirty="0" smtClean="0"/>
              <a:t>CHAMFERED OFF BEYOND</a:t>
            </a:r>
          </a:p>
          <a:p>
            <a:r>
              <a:rPr lang="en-GB" sz="600" dirty="0" smtClean="0"/>
              <a:t>THE LENGTH SHOWN</a:t>
            </a:r>
          </a:p>
          <a:p>
            <a:endParaRPr lang="en-GB" sz="600" dirty="0"/>
          </a:p>
        </p:txBody>
      </p:sp>
      <p:sp>
        <p:nvSpPr>
          <p:cNvPr id="5" name="TextBox 4"/>
          <p:cNvSpPr txBox="1"/>
          <p:nvPr/>
        </p:nvSpPr>
        <p:spPr>
          <a:xfrm rot="17481200">
            <a:off x="3209692" y="297590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30⁰</a:t>
            </a:r>
            <a:endParaRPr lang="en-GB" sz="600" dirty="0"/>
          </a:p>
        </p:txBody>
      </p:sp>
      <p:sp>
        <p:nvSpPr>
          <p:cNvPr id="6" name="TextBox 5"/>
          <p:cNvSpPr txBox="1"/>
          <p:nvPr/>
        </p:nvSpPr>
        <p:spPr>
          <a:xfrm>
            <a:off x="2411760" y="788171"/>
            <a:ext cx="3610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750</a:t>
            </a:r>
            <a:endParaRPr lang="en-GB" sz="600" dirty="0"/>
          </a:p>
        </p:txBody>
      </p:sp>
      <p:sp>
        <p:nvSpPr>
          <p:cNvPr id="7" name="TextBox 6"/>
          <p:cNvSpPr txBox="1"/>
          <p:nvPr/>
        </p:nvSpPr>
        <p:spPr>
          <a:xfrm>
            <a:off x="1955262" y="1724279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45⁰ CHAMFER</a:t>
            </a:r>
            <a:endParaRPr lang="en-GB" sz="600" dirty="0"/>
          </a:p>
        </p:txBody>
      </p:sp>
      <p:sp>
        <p:nvSpPr>
          <p:cNvPr id="8" name="TextBox 7"/>
          <p:cNvSpPr txBox="1"/>
          <p:nvPr/>
        </p:nvSpPr>
        <p:spPr>
          <a:xfrm>
            <a:off x="3164487" y="2804399"/>
            <a:ext cx="17281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MARKING GENERALLY AS BS1990</a:t>
            </a:r>
          </a:p>
          <a:p>
            <a:endParaRPr lang="en-GB" sz="600" dirty="0"/>
          </a:p>
          <a:p>
            <a:pPr marL="228600" indent="-228600">
              <a:buAutoNum type="arabicPeriod"/>
            </a:pPr>
            <a:r>
              <a:rPr lang="en-GB" sz="600" dirty="0" smtClean="0"/>
              <a:t>LENGTH AND DIAMETER OR CLASS AT 1500mm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CHARACTERS TO BE GOUGED OR BRANDED 5mm WIDE, 3mm DEEP AND 25mm HIGH AS A MINIMUM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POLE TOP DIAMETER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TIMBER SPECIES, COUNTRY OF ORIGIN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YEAR OF PRESERVATION AND CHARGE No.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INITIALS OF SUPPLIER</a:t>
            </a:r>
            <a:endParaRPr lang="en-GB" sz="600" dirty="0"/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3059832" y="3740503"/>
            <a:ext cx="178335" cy="720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3059832" y="3596488"/>
            <a:ext cx="178336" cy="142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3059832" y="3429001"/>
            <a:ext cx="178336" cy="1674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059832" y="3164439"/>
            <a:ext cx="178336" cy="3693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112996" y="3092431"/>
            <a:ext cx="1251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59839" y="2823792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</a:t>
            </a:r>
            <a:endParaRPr lang="en-GB" sz="600" dirty="0"/>
          </a:p>
        </p:txBody>
      </p:sp>
      <p:sp>
        <p:nvSpPr>
          <p:cNvPr id="33" name="TextBox 32"/>
          <p:cNvSpPr txBox="1"/>
          <p:nvPr/>
        </p:nvSpPr>
        <p:spPr>
          <a:xfrm>
            <a:off x="2260765" y="3152002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</a:t>
            </a:r>
            <a:endParaRPr lang="en-GB" sz="600" dirty="0"/>
          </a:p>
        </p:txBody>
      </p:sp>
      <p:sp>
        <p:nvSpPr>
          <p:cNvPr id="34" name="TextBox 33"/>
          <p:cNvSpPr txBox="1"/>
          <p:nvPr/>
        </p:nvSpPr>
        <p:spPr>
          <a:xfrm>
            <a:off x="2260765" y="2948415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90</a:t>
            </a:r>
            <a:endParaRPr lang="en-GB" sz="600" dirty="0"/>
          </a:p>
        </p:txBody>
      </p:sp>
      <p:sp>
        <p:nvSpPr>
          <p:cNvPr id="35" name="TextBox 34"/>
          <p:cNvSpPr txBox="1"/>
          <p:nvPr/>
        </p:nvSpPr>
        <p:spPr>
          <a:xfrm>
            <a:off x="2260765" y="3238738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30</a:t>
            </a:r>
            <a:endParaRPr lang="en-GB" sz="600" dirty="0"/>
          </a:p>
        </p:txBody>
      </p:sp>
      <p:sp>
        <p:nvSpPr>
          <p:cNvPr id="37" name="TextBox 36"/>
          <p:cNvSpPr txBox="1"/>
          <p:nvPr/>
        </p:nvSpPr>
        <p:spPr>
          <a:xfrm>
            <a:off x="2260765" y="3504155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</a:t>
            </a:r>
            <a:endParaRPr lang="en-GB" sz="600" dirty="0"/>
          </a:p>
        </p:txBody>
      </p:sp>
      <p:sp>
        <p:nvSpPr>
          <p:cNvPr id="38" name="TextBox 37"/>
          <p:cNvSpPr txBox="1"/>
          <p:nvPr/>
        </p:nvSpPr>
        <p:spPr>
          <a:xfrm>
            <a:off x="2260765" y="3072106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30</a:t>
            </a:r>
            <a:endParaRPr lang="en-GB" sz="600" dirty="0"/>
          </a:p>
        </p:txBody>
      </p:sp>
      <p:sp>
        <p:nvSpPr>
          <p:cNvPr id="39" name="TextBox 38"/>
          <p:cNvSpPr txBox="1"/>
          <p:nvPr/>
        </p:nvSpPr>
        <p:spPr>
          <a:xfrm>
            <a:off x="2260978" y="3413498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30</a:t>
            </a:r>
            <a:endParaRPr lang="en-GB" sz="600" dirty="0"/>
          </a:p>
        </p:txBody>
      </p:sp>
      <p:sp>
        <p:nvSpPr>
          <p:cNvPr id="40" name="TextBox 39"/>
          <p:cNvSpPr txBox="1"/>
          <p:nvPr/>
        </p:nvSpPr>
        <p:spPr>
          <a:xfrm>
            <a:off x="2260765" y="3308933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</a:t>
            </a:r>
            <a:endParaRPr lang="en-GB" sz="600" dirty="0"/>
          </a:p>
        </p:txBody>
      </p:sp>
      <p:sp>
        <p:nvSpPr>
          <p:cNvPr id="31" name="TextBox 30"/>
          <p:cNvSpPr txBox="1"/>
          <p:nvPr/>
        </p:nvSpPr>
        <p:spPr>
          <a:xfrm>
            <a:off x="3121754" y="4143804"/>
            <a:ext cx="1656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NOTES:-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ALL DIMENSIONS ARE IN MILLIMETERS, UNLESS OTHERWISE SHOWN</a:t>
            </a:r>
          </a:p>
          <a:p>
            <a:pPr marL="228600" indent="-228600">
              <a:buAutoNum type="arabicPeriod"/>
            </a:pPr>
            <a:r>
              <a:rPr lang="en-GB" sz="600" dirty="0" smtClean="0"/>
              <a:t>ALL POLE DRILLINGS ABOVE GROUND LEVEL WHICH ARE NOT USED, MUST BE PLUGGED WITH APPROVED WOOD POLE PLUGS</a:t>
            </a:r>
            <a:endParaRPr lang="en-GB" sz="600" dirty="0"/>
          </a:p>
        </p:txBody>
      </p:sp>
      <p:sp>
        <p:nvSpPr>
          <p:cNvPr id="41" name="TextBox 40"/>
          <p:cNvSpPr txBox="1"/>
          <p:nvPr/>
        </p:nvSpPr>
        <p:spPr>
          <a:xfrm>
            <a:off x="683568" y="5468695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POLE SIZE TO BE IMPRESSED ON POLE BUTT</a:t>
            </a:r>
            <a:endParaRPr lang="en-GB" sz="600" dirty="0"/>
          </a:p>
        </p:txBody>
      </p:sp>
      <p:sp>
        <p:nvSpPr>
          <p:cNvPr id="42" name="TextBox 41"/>
          <p:cNvSpPr txBox="1"/>
          <p:nvPr/>
        </p:nvSpPr>
        <p:spPr>
          <a:xfrm rot="16200000">
            <a:off x="1625573" y="4476262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255</a:t>
            </a:r>
          </a:p>
        </p:txBody>
      </p:sp>
      <p:sp>
        <p:nvSpPr>
          <p:cNvPr id="44" name="TextBox 43"/>
          <p:cNvSpPr txBox="1"/>
          <p:nvPr/>
        </p:nvSpPr>
        <p:spPr>
          <a:xfrm rot="16200000">
            <a:off x="1625573" y="4727926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600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624" y="4964639"/>
            <a:ext cx="2880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</a:t>
            </a:r>
            <a:endParaRPr lang="en-GB" sz="600" dirty="0"/>
          </a:p>
        </p:txBody>
      </p:sp>
      <p:sp>
        <p:nvSpPr>
          <p:cNvPr id="46" name="TextBox 45"/>
          <p:cNvSpPr txBox="1"/>
          <p:nvPr/>
        </p:nvSpPr>
        <p:spPr>
          <a:xfrm rot="16200000">
            <a:off x="1099937" y="4367886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255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955921" y="4573938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380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955921" y="4777890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410</a:t>
            </a:r>
          </a:p>
        </p:txBody>
      </p:sp>
      <p:sp>
        <p:nvSpPr>
          <p:cNvPr id="49" name="TextBox 48"/>
          <p:cNvSpPr txBox="1"/>
          <p:nvPr/>
        </p:nvSpPr>
        <p:spPr>
          <a:xfrm rot="16200000">
            <a:off x="750997" y="4447146"/>
            <a:ext cx="360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3000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904914" y="4131694"/>
            <a:ext cx="4470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DIM ‘A’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15816" y="5949280"/>
            <a:ext cx="18722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KK POLE FABRICATION DRAWING</a:t>
            </a:r>
            <a:endParaRPr lang="en-GB" sz="900" dirty="0"/>
          </a:p>
        </p:txBody>
      </p:sp>
      <p:sp>
        <p:nvSpPr>
          <p:cNvPr id="51" name="TextBox 50"/>
          <p:cNvSpPr txBox="1"/>
          <p:nvPr/>
        </p:nvSpPr>
        <p:spPr>
          <a:xfrm>
            <a:off x="4716016" y="6381328"/>
            <a:ext cx="720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1</a:t>
            </a:r>
            <a:endParaRPr lang="en-GB" sz="900" dirty="0"/>
          </a:p>
        </p:txBody>
      </p:sp>
      <p:sp>
        <p:nvSpPr>
          <p:cNvPr id="52" name="TextBox 51"/>
          <p:cNvSpPr txBox="1"/>
          <p:nvPr/>
        </p:nvSpPr>
        <p:spPr>
          <a:xfrm>
            <a:off x="3923928" y="6381328"/>
            <a:ext cx="7920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NG-KK-001</a:t>
            </a:r>
            <a:endParaRPr lang="en-GB" sz="900" dirty="0"/>
          </a:p>
        </p:txBody>
      </p:sp>
      <p:sp>
        <p:nvSpPr>
          <p:cNvPr id="54" name="TextBox 53"/>
          <p:cNvSpPr txBox="1"/>
          <p:nvPr/>
        </p:nvSpPr>
        <p:spPr>
          <a:xfrm>
            <a:off x="2923820" y="6396716"/>
            <a:ext cx="7920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DRG. &amp; ISSUE</a:t>
            </a:r>
            <a:endParaRPr lang="en-GB" sz="800" dirty="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163369"/>
            <a:ext cx="1428750" cy="333375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55612"/>
              </p:ext>
            </p:extLst>
          </p:nvPr>
        </p:nvGraphicFramePr>
        <p:xfrm>
          <a:off x="2112318" y="4925057"/>
          <a:ext cx="1376058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9994"/>
                <a:gridCol w="57606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>
                          <a:solidFill>
                            <a:schemeClr val="tx1"/>
                          </a:solidFill>
                        </a:rPr>
                        <a:t>POLE LENGTH (m)</a:t>
                      </a: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>
                          <a:solidFill>
                            <a:schemeClr val="tx1"/>
                          </a:solidFill>
                        </a:rPr>
                        <a:t>DIM</a:t>
                      </a:r>
                      <a:r>
                        <a:rPr lang="en-GB" sz="600" baseline="0" dirty="0" smtClean="0">
                          <a:solidFill>
                            <a:schemeClr val="tx1"/>
                          </a:solidFill>
                        </a:rPr>
                        <a:t> ‘A’ (m)</a:t>
                      </a: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8.5</a:t>
                      </a:r>
                      <a:r>
                        <a:rPr lang="en-GB" sz="600" baseline="0" dirty="0" smtClean="0"/>
                        <a:t> – 11.0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1.7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8621"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11.5 – 14.0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1.5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8621"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15.0 – 17.0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1.3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8621"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18.0 – 24.0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 smtClean="0"/>
                        <a:t>1.1</a:t>
                      </a:r>
                      <a:endParaRPr lang="en-GB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96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0754b47-c413-4aa1-bfc3-c33089241f4f}" enabled="1" method="Standard" siteId="{e339bd4b-2e3b-4035-a452-2112d502f2f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171</Words>
  <Application>Microsoft Office PowerPoint</Application>
  <PresentationFormat>On-screen Show (4:3)</PresentationFormat>
  <Paragraphs>50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National Grid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National Grid</dc:creator>
  <cp:lastModifiedBy>Lonsdale, Robert</cp:lastModifiedBy>
  <cp:revision>7</cp:revision>
  <dcterms:created xsi:type="dcterms:W3CDTF">2014-12-04T11:08:43Z</dcterms:created>
  <dcterms:modified xsi:type="dcterms:W3CDTF">2014-12-05T09:07:12Z</dcterms:modified>
</cp:coreProperties>
</file>